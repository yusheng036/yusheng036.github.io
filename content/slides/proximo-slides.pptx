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24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</c:v>
                </c:pt>
              </c:strCache>
            </c:strRef>
          </c:tx>
          <c:spPr>
            <a:solidFill>
              <a:srgbClr val="3D51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D516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</c:v>
                </c:pt>
                <c:pt idx="1">
                  <c:v>57</c:v>
                </c:pt>
                <c:pt idx="2">
                  <c:v>19</c:v>
                </c:pt>
                <c:pt idx="3">
                  <c:v>27</c:v>
                </c:pt>
                <c:pt idx="4">
                  <c:v>39</c:v>
                </c:pt>
                <c:pt idx="5">
                  <c:v>37</c:v>
                </c:pt>
                <c:pt idx="6">
                  <c:v>45</c:v>
                </c:pt>
                <c:pt idx="7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8D4F-941B-18A4A7C888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Future-Self</c:v>
                </c:pt>
              </c:strCache>
            </c:strRef>
          </c:tx>
          <c:spPr>
            <a:solidFill>
              <a:srgbClr val="2A8FA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D516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59</c:v>
                </c:pt>
                <c:pt idx="1">
                  <c:v>47</c:v>
                </c:pt>
                <c:pt idx="2">
                  <c:v>29</c:v>
                </c:pt>
                <c:pt idx="3">
                  <c:v>27</c:v>
                </c:pt>
                <c:pt idx="4">
                  <c:v>37</c:v>
                </c:pt>
                <c:pt idx="5">
                  <c:v>73</c:v>
                </c:pt>
                <c:pt idx="6">
                  <c:v>35</c:v>
                </c:pt>
                <c:pt idx="7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4A-8D4F-941B-18A4A7C888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8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596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proximo-production-8872.up.railway.app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17170"/>
            <a:ext cx="32004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1280160"/>
            <a:ext cx="1920240" cy="256032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720840" y="1143000"/>
            <a:ext cx="1920240" cy="2560320"/>
          </a:xfrm>
          <a:prstGeom prst="rect">
            <a:avLst/>
          </a:prstGeom>
          <a:solidFill>
            <a:srgbClr val="2A8FA1">
              <a:alpha val="60000"/>
            </a:srgbClr>
          </a:solidFill>
          <a:ln w="12700">
            <a:solidFill>
              <a:srgbClr val="2A8FA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1005840"/>
            <a:ext cx="1920240" cy="2560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5943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PROXIMO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Identity-Based AI Tutors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Learning Motivation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2194560" cy="36576"/>
          </a:xfrm>
          <a:prstGeom prst="rect">
            <a:avLst/>
          </a:prstGeom>
          <a:solidFill>
            <a:srgbClr val="2A8FA1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6A8"/>
                </a:solidFill>
              </a:rPr>
              <a:t>Yu Sheng Aow  |  CS 598  |  Boston University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HCI Research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1B6B7B">
              <a:alpha val="15000"/>
            </a:srgbClr>
          </a:solidFill>
          <a:ln w="12700">
            <a:solidFill>
              <a:srgbClr val="1B6B7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B6B7B"/>
                </a:solidFill>
              </a:rPr>
              <a:t>01  | 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Students Give Up?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475488"/>
          </a:xfrm>
          <a:prstGeom prst="rect">
            <a:avLst/>
          </a:prstGeom>
          <a:solidFill>
            <a:srgbClr val="EEF7FA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B6B7B"/>
                </a:solidFill>
              </a:rPr>
              <a:t>What if an AI tutor could speak to you not as a teacher — but as yourself, ten years from now?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8229600" cy="896112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64008" cy="896112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" y="2194560"/>
            <a:ext cx="475488" cy="475488"/>
          </a:xfrm>
          <a:prstGeom prst="ellipse">
            <a:avLst/>
          </a:prstGeom>
          <a:solidFill>
            <a:srgbClr val="1B6B7B">
              <a:alpha val="20000"/>
            </a:srgbClr>
          </a:solidFill>
          <a:ln w="12700">
            <a:solidFill>
              <a:srgbClr val="1B6B7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1945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98448" y="206654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166"/>
                </a:solidFill>
              </a:rPr>
              <a:t>The Motivation Gap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98448" y="2395728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AI tutors like ChatGPT excel at answering questions but completely ignore emotional and motivational barriers — the real reason students disengage from hard topics.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999232"/>
            <a:ext cx="8229600" cy="896112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999232"/>
            <a:ext cx="64008" cy="896112"/>
          </a:xfrm>
          <a:prstGeom prst="rect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8368" y="3200400"/>
            <a:ext cx="475488" cy="475488"/>
          </a:xfrm>
          <a:prstGeom prst="ellipse">
            <a:avLst/>
          </a:prstGeom>
          <a:solidFill>
            <a:srgbClr val="E8935A">
              <a:alpha val="20000"/>
            </a:srgbClr>
          </a:solidFill>
          <a:ln w="12700">
            <a:solidFill>
              <a:srgbClr val="E8935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2004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98448" y="307238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166"/>
                </a:solidFill>
              </a:rPr>
              <a:t>Identity Disconnect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298448" y="3401568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Students can't envision themselves as future experts. Educational psychology shows that future-self continuity is a key driver of academic persistence.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4005072"/>
            <a:ext cx="8229600" cy="896112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57200" y="4005072"/>
            <a:ext cx="64008" cy="896112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58368" y="4206240"/>
            <a:ext cx="475488" cy="475488"/>
          </a:xfrm>
          <a:prstGeom prst="ellipse">
            <a:avLst/>
          </a:prstGeom>
          <a:solidFill>
            <a:srgbClr val="3D5166">
              <a:alpha val="20000"/>
            </a:srgbClr>
          </a:solidFill>
          <a:ln w="12700">
            <a:solidFill>
              <a:srgbClr val="3D516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20624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98448" y="407822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166"/>
                </a:solidFill>
              </a:rPr>
              <a:t>Unexplored Design Space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298448" y="4407408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Prior work has studied AI tutoring and future-self reflection separately. No system integrates both into a real-time tutoring interaction.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0" cy="310896"/>
          </a:xfrm>
          <a:prstGeom prst="roundRect">
            <a:avLst>
              <a:gd name="adj" fmla="val 14706"/>
            </a:avLst>
          </a:prstGeom>
          <a:solidFill>
            <a:srgbClr val="1B6B7B">
              <a:alpha val="15000"/>
            </a:srgbClr>
          </a:solidFill>
          <a:ln w="12700">
            <a:solidFill>
              <a:srgbClr val="1B6B7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B6B7B"/>
                </a:solidFill>
              </a:rPr>
              <a:t>01  |  Background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960120"/>
          </a:xfrm>
          <a:prstGeom prst="rect">
            <a:avLst/>
          </a:prstGeom>
          <a:solidFill>
            <a:srgbClr val="EEF7FA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64008" cy="96012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23760" y="768096"/>
            <a:ext cx="1325880" cy="292608"/>
          </a:xfrm>
          <a:prstGeom prst="roundRect">
            <a:avLst>
              <a:gd name="adj" fmla="val 15625"/>
            </a:avLst>
          </a:prstGeom>
          <a:solidFill>
            <a:srgbClr val="1B6B7B">
              <a:alpha val="25000"/>
            </a:srgbClr>
          </a:solidFill>
          <a:ln w="12700">
            <a:solidFill>
              <a:srgbClr val="1B6B7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0" y="76809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B7B"/>
                </a:solidFill>
              </a:rPr>
              <a:t>CHI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7680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Letters from Future Self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112471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</a:rPr>
              <a:t>Augmenting the Letter-Exchange Exercise with LLM-based Agents to Enhance Young Adults' Career Exploration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8229600" cy="841248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64008" cy="841248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" y="2468880"/>
            <a:ext cx="402336" cy="402336"/>
          </a:xfrm>
          <a:prstGeom prst="ellipse">
            <a:avLst/>
          </a:prstGeom>
          <a:solidFill>
            <a:srgbClr val="1B6B7B">
              <a:alpha val="18000"/>
            </a:srgbClr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B7B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52360" y="2523744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1B6B7B">
              <a:alpha val="12000"/>
            </a:srgbClr>
          </a:solidFill>
          <a:ln w="12700">
            <a:solidFill>
              <a:srgbClr val="1B6B7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52360" y="2523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6B7B"/>
                </a:solidFill>
              </a:rPr>
              <a:t>Technical finding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07008" y="23591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166"/>
                </a:solidFill>
              </a:rPr>
              <a:t>LLMs can convincingly simulate a future self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267919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The study built an LLM agent that role-played each participant's future self — based on their own goals, values, and aspirations. Participants rated the simulation as authentic and reflective of who they hoped to become.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18688"/>
            <a:ext cx="8229600" cy="841248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218688"/>
            <a:ext cx="64008" cy="841248"/>
          </a:xfrm>
          <a:prstGeom prst="rect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" y="3419856"/>
            <a:ext cx="402336" cy="402336"/>
          </a:xfrm>
          <a:prstGeom prst="ellipse">
            <a:avLst/>
          </a:prstGeom>
          <a:solidFill>
            <a:srgbClr val="E8935A">
              <a:alpha val="18000"/>
            </a:srgbClr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935A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52360" y="3474720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E8935A">
              <a:alpha val="12000"/>
            </a:srgbClr>
          </a:solidFill>
          <a:ln w="12700">
            <a:solidFill>
              <a:srgbClr val="E893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52360" y="34747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935A"/>
                </a:solidFill>
              </a:rPr>
              <a:t>Psychological finding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07008" y="331012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166"/>
                </a:solidFill>
              </a:rPr>
              <a:t>Future-self dialogue reduces career anxiety and builds hope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07008" y="363016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After exchanging letters with their AI future self, participants reported significantly lower levels of career-related anxiety and higher feelings of hope and agency. The emotional framing of the interaction was a key driver.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69664"/>
            <a:ext cx="8229600" cy="841248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4169664"/>
            <a:ext cx="64008" cy="841248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8368" y="4370832"/>
            <a:ext cx="402336" cy="402336"/>
          </a:xfrm>
          <a:prstGeom prst="ellipse">
            <a:avLst/>
          </a:prstGeom>
          <a:solidFill>
            <a:srgbClr val="3D5166">
              <a:alpha val="18000"/>
            </a:srgbClr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166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52360" y="4425696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3D5166">
              <a:alpha val="12000"/>
            </a:srgbClr>
          </a:solidFill>
          <a:ln w="12700">
            <a:solidFill>
              <a:srgbClr val="3D516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52360" y="44256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166"/>
                </a:solidFill>
              </a:rPr>
              <a:t>Behavioural finding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207008" y="426110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166"/>
                </a:solidFill>
              </a:rPr>
              <a:t>Identity continuity strengthens long-term goal commitment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07008" y="458114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Participants who felt a strong connection to their AI future self were more likely to articulate concrete next steps toward their career goals. Imagining a successful future self helped bridge the gap between present uncertainty and future action.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0" cy="310896"/>
          </a:xfrm>
          <a:prstGeom prst="roundRect">
            <a:avLst>
              <a:gd name="adj" fmla="val 14706"/>
            </a:avLst>
          </a:prstGeom>
          <a:solidFill>
            <a:srgbClr val="1B6B7B">
              <a:alpha val="15000"/>
            </a:srgbClr>
          </a:solidFill>
          <a:ln w="12700">
            <a:solidFill>
              <a:srgbClr val="1B6B7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B6B7B"/>
                </a:solidFill>
              </a:rPr>
              <a:t>01  |  Background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Aims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713232"/>
          </a:xfrm>
          <a:prstGeom prst="rect">
            <a:avLst/>
          </a:prstGeom>
          <a:solidFill>
            <a:srgbClr val="EEF7FA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64008" cy="713232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7B"/>
                </a:solidFill>
              </a:rPr>
              <a:t>Research 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70078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166"/>
                </a:solidFill>
              </a:rPr>
              <a:t>How does framing an AI tutor as a student's future self affect motivation, engagement, and perceived learning support compared to a standard AI tutor?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633472" cy="246888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54864" cy="246888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2368296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1B6B7B">
              <a:alpha val="18000"/>
            </a:srgbClr>
          </a:solidFill>
          <a:ln w="12700">
            <a:solidFill>
              <a:srgbClr val="1B6B7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3682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7B"/>
                </a:solidFill>
              </a:rPr>
              <a:t>A1</a:t>
            </a:r>
            <a:endParaRPr lang="en-US" sz="9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33172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2770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166"/>
                </a:solidFill>
              </a:rPr>
              <a:t>Test identity-based motivation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3172968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Investigate whether future-self framing measurably increases student motivation and engagement during active learning sessions — beyond simply answering questions well.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73552" y="2240280"/>
            <a:ext cx="2633472" cy="246888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73552" y="2240280"/>
            <a:ext cx="54864" cy="2468880"/>
          </a:xfrm>
          <a:prstGeom prst="rect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10712" y="2368296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8935A">
              <a:alpha val="18000"/>
            </a:srgbClr>
          </a:solidFill>
          <a:ln w="12700">
            <a:solidFill>
              <a:srgbClr val="E8935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10712" y="23682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35A"/>
                </a:solidFill>
              </a:rPr>
              <a:t>A2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784" y="233172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56432" y="2770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166"/>
                </a:solidFill>
              </a:rPr>
              <a:t>Measure emotional &amp; cognitive support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456432" y="3172968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Assess whether the future-self tutor improves perceived support, self-confidence, and trust — addressing the emotional dimension that standard AI tutors neglect.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089904" y="2240280"/>
            <a:ext cx="2633472" cy="246888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089904" y="2240280"/>
            <a:ext cx="54864" cy="2468880"/>
          </a:xfrm>
          <a:prstGeom prst="rect">
            <a:avLst/>
          </a:prstGeom>
          <a:solidFill>
            <a:srgbClr val="2A8FA1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227064" y="2368296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2A8FA1">
              <a:alpha val="18000"/>
            </a:srgbClr>
          </a:solidFill>
          <a:ln w="12700">
            <a:solidFill>
              <a:srgbClr val="2A8FA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227064" y="23682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8FA1"/>
                </a:solidFill>
              </a:rPr>
              <a:t>A3</a:t>
            </a:r>
            <a:endParaRPr lang="en-US" sz="9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2331720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72784" y="2770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166"/>
                </a:solidFill>
              </a:rPr>
              <a:t>Generate HCI design guidelines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272784" y="3172968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Produce actionable design insights for future AI tutoring systems that integrate identity-based scaffolding alongside cognitive support — especially for non-expert learners.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1B6B7B">
              <a:alpha val="15000"/>
            </a:srgbClr>
          </a:solidFill>
          <a:ln w="12700">
            <a:solidFill>
              <a:srgbClr val="1B6B7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B6B7B"/>
                </a:solidFill>
              </a:rPr>
              <a:t>01  | 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One Key Paper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EEF7FA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64008" cy="91440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B7B"/>
                </a:solidFill>
              </a:rPr>
              <a:t>Letters from Future Self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181965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</a:rPr>
              <a:t>Augmenting the Letter-Exchange Exercise with LLM-based Agents to Enhance Young Adults' Career Exploration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1B6B7B">
              <a:alpha val="20000"/>
            </a:srgbClr>
          </a:solidFill>
          <a:ln w="12700">
            <a:solidFill>
              <a:srgbClr val="1B6B7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78040" y="1508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7B"/>
                </a:solidFill>
              </a:rPr>
              <a:t>CHI 2025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6A8"/>
                </a:solidFill>
              </a:rPr>
              <a:t>What the CHI 2025 paper showed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7B"/>
                </a:solidFill>
              </a:rPr>
              <a:t>How Proximo extends 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8229600" cy="18288"/>
          </a:xfrm>
          <a:prstGeom prst="rect">
            <a:avLst/>
          </a:prstGeom>
          <a:solidFill>
            <a:srgbClr val="D8E4EE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8229600" cy="73152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724912"/>
            <a:ext cx="64008" cy="731520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2889504"/>
            <a:ext cx="384048" cy="384048"/>
          </a:xfrm>
          <a:prstGeom prst="ellipse">
            <a:avLst/>
          </a:prstGeom>
          <a:solidFill>
            <a:srgbClr val="1B6B7B">
              <a:alpha val="16000"/>
            </a:srgbClr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7B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70432" y="281635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LLM agents can convincingly simulate a person's future self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3063240"/>
            <a:ext cx="256032" cy="36576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816352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Proved the technical feasibility of future-self framing. Proximo applies the same LLM persona approach — but inside an active tutoring session, not letter exchange.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8229600" cy="73152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529584"/>
            <a:ext cx="64008" cy="731520"/>
          </a:xfrm>
          <a:prstGeom prst="rect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3694176"/>
            <a:ext cx="384048" cy="384048"/>
          </a:xfrm>
          <a:prstGeom prst="ellipse">
            <a:avLst/>
          </a:prstGeom>
          <a:solidFill>
            <a:srgbClr val="E8935A">
              <a:alpha val="16000"/>
            </a:srgbClr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935A"/>
                </a:solidFill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70432" y="362102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Future-self dialogue reduces anxiety and builds motivation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34840" y="3867912"/>
            <a:ext cx="256032" cy="36576"/>
          </a:xfrm>
          <a:prstGeom prst="rect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62102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Participants felt more hopeful after talking to their AI future self. Proximo tests whether this emotional effect also reduces anxiety when actively struggling to learn hard CS and math topics.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3D5166">
              <a:alpha val="15000"/>
            </a:srgbClr>
          </a:solidFill>
          <a:ln w="12700">
            <a:solidFill>
              <a:srgbClr val="3D516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3D5166"/>
                </a:solidFill>
              </a:rPr>
              <a:t>02  | 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3401568"/>
            <a:ext cx="4114800" cy="3657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846320" y="3456432"/>
            <a:ext cx="146304" cy="146304"/>
          </a:xfrm>
          <a:prstGeom prst="ellipse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102352" y="34015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FastAPI + Uvicorn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02352" y="3566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8"/>
                </a:solidFill>
              </a:rPr>
              <a:t>Web server &amp; API routing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3831336"/>
            <a:ext cx="4114800" cy="3657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46320" y="3886200"/>
            <a:ext cx="146304" cy="146304"/>
          </a:xfrm>
          <a:prstGeom prst="ellipse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02352" y="38313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claude-sonnet-4-6 + streaming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02352" y="39959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8"/>
                </a:solidFill>
              </a:rPr>
              <a:t>Powers both tutor personas via prompts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1508760"/>
            <a:ext cx="3977640" cy="969264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" y="1508760"/>
            <a:ext cx="54864" cy="969264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40080" y="1755648"/>
            <a:ext cx="420624" cy="420624"/>
          </a:xfrm>
          <a:prstGeom prst="ellipse">
            <a:avLst/>
          </a:prstGeom>
          <a:solidFill>
            <a:srgbClr val="1B6B7B">
              <a:alpha val="18000"/>
            </a:srgbClr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B7B"/>
                </a:solidFill>
              </a:rPr>
              <a:t>1</a:t>
            </a:r>
            <a:endParaRPr lang="en-US" sz="13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764792"/>
            <a:ext cx="438912" cy="43891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755648" y="1600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166"/>
                </a:solidFill>
              </a:rPr>
              <a:t>Student Asks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755648" y="19659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Sends a question about recursion,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dynamic programming, or Bayes theorem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148840" y="2478024"/>
            <a:ext cx="36576" cy="128016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457200" y="2606040"/>
            <a:ext cx="3977640" cy="969264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4864" cy="969264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3D5166">
              <a:alpha val="18000"/>
            </a:srgbClr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640080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5166"/>
                </a:solidFill>
              </a:rPr>
              <a:t>2</a:t>
            </a:r>
            <a:endParaRPr lang="en-US" sz="13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862072"/>
            <a:ext cx="438912" cy="43891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755648" y="26974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166"/>
                </a:solidFill>
              </a:rPr>
              <a:t>Prompt Engineering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1755648" y="3063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LLM adopts future-self persona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via system-level prompt instructions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2148840" y="3575304"/>
            <a:ext cx="36576" cy="128016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457200" y="3703320"/>
            <a:ext cx="3977640" cy="969264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4"/>
          <p:cNvSpPr/>
          <p:nvPr/>
        </p:nvSpPr>
        <p:spPr>
          <a:xfrm>
            <a:off x="457200" y="3703320"/>
            <a:ext cx="54864" cy="969264"/>
          </a:xfrm>
          <a:prstGeom prst="rect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640080" y="3950208"/>
            <a:ext cx="420624" cy="420624"/>
          </a:xfrm>
          <a:prstGeom prst="ellipse">
            <a:avLst/>
          </a:prstGeom>
          <a:solidFill>
            <a:srgbClr val="E8935A">
              <a:alpha val="18000"/>
            </a:srgbClr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640080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935A"/>
                </a:solidFill>
              </a:rPr>
              <a:t>3</a:t>
            </a:r>
            <a:endParaRPr lang="en-US" sz="13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959352"/>
            <a:ext cx="438912" cy="43891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1755648" y="37947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166"/>
                </a:solidFill>
              </a:rPr>
              <a:t>Identity Response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1755648" y="41605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Tutor replies as the future YOU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who has already mastered this material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293389-C7DF-E82C-F688-E1F2224F7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094" y="1335000"/>
            <a:ext cx="5955811" cy="3345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02DE92-8810-DB39-DF55-E855F1A32223}"/>
              </a:ext>
            </a:extLst>
          </p:cNvPr>
          <p:cNvSpPr txBox="1"/>
          <p:nvPr/>
        </p:nvSpPr>
        <p:spPr>
          <a:xfrm>
            <a:off x="2629353" y="238052"/>
            <a:ext cx="3650743" cy="64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3600" b="1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r>
              <a:rPr lang="en-US"/>
              <a:t>Design Interface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411C6-C7CE-D04F-FBEA-DD738D7D185F}"/>
              </a:ext>
            </a:extLst>
          </p:cNvPr>
          <p:cNvSpPr txBox="1"/>
          <p:nvPr/>
        </p:nvSpPr>
        <p:spPr>
          <a:xfrm>
            <a:off x="2285999" y="88438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dirty="0">
                <a:effectLst/>
                <a:latin typeface="Helvetica Neue" panose="02000503000000020004" pitchFamily="2" charset="0"/>
                <a:hlinkClick r:id="rId3"/>
              </a:rPr>
              <a:t>proximo-production-8872.up.railway.app</a:t>
            </a:r>
            <a:endParaRPr lang="en-MY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733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2A8FA1">
              <a:alpha val="15000"/>
            </a:srgbClr>
          </a:solidFill>
          <a:ln w="12700">
            <a:solidFill>
              <a:srgbClr val="2A8FA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A8FA1"/>
                </a:solidFill>
              </a:rPr>
              <a:t>03  | 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Metrics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2A8FA1">
              <a:alpha val="15000"/>
            </a:srgbClr>
          </a:solidFill>
          <a:ln w="12700">
            <a:solidFill>
              <a:srgbClr val="2A8FA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A8FA1"/>
                </a:solidFill>
              </a:rPr>
              <a:t>03  | 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Messages Sent Per Session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6A8"/>
                </a:solidFill>
              </a:rPr>
              <a:t>A direct behavioural measure: how much did each participant interact with each tutor?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691640"/>
          <a:ext cx="54864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80760" y="1691640"/>
            <a:ext cx="2651760" cy="969264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80760" y="1691640"/>
            <a:ext cx="54864" cy="969264"/>
          </a:xfrm>
          <a:prstGeom prst="rect">
            <a:avLst/>
          </a:prstGeom>
          <a:solidFill>
            <a:srgbClr val="2A8FA1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0" y="17647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8F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vs 35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217920" y="22219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avg messages: Future-Self vs Standard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80760" y="2770632"/>
            <a:ext cx="2651760" cy="969264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080760" y="2770632"/>
            <a:ext cx="54864" cy="969264"/>
          </a:xfrm>
          <a:prstGeom prst="rect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17920" y="284378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9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sent more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217920" y="330098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P1 (+32), P3 (+10), P6 (+36)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most active with Future-Self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80760" y="3849624"/>
            <a:ext cx="2651760" cy="969264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80760" y="3849624"/>
            <a:ext cx="54864" cy="969264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17920" y="392277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sent fewer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217920" y="43799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P2 (-10), P5 (-2), P7 (-10)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more active with Standard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2A8FA1">
              <a:alpha val="15000"/>
            </a:srgbClr>
          </a:solidFill>
          <a:ln w="12700">
            <a:solidFill>
              <a:srgbClr val="2A8FA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A8FA1"/>
                </a:solidFill>
              </a:rPr>
              <a:t>03  | 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Preferred Which Tutor?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420624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92040" y="1691640"/>
            <a:ext cx="3840480" cy="1298448"/>
          </a:xfrm>
          <a:prstGeom prst="rect">
            <a:avLst/>
          </a:prstGeom>
          <a:solidFill>
            <a:srgbClr val="EEF7FA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892040" y="1691640"/>
            <a:ext cx="54864" cy="1298448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47488" y="1764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7B"/>
                </a:solidFill>
              </a:rPr>
              <a:t>Key Finding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47488" y="207568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50% preferred the Future-Self tutor, 25% Standard, 25% equally good — after controlling for session order. Participants who preferred Future-Self consistently cited its relatable, collaborative tone.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92040" y="3108960"/>
            <a:ext cx="3840480" cy="841248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92040" y="3108960"/>
            <a:ext cx="54864" cy="841248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47488" y="318211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166"/>
                </a:solidFill>
              </a:rPr>
              <a:t>"giving an identity to the tutor made everything more relatable and easier to understand rather than the first studying method."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47488" y="3749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8"/>
                </a:solidFill>
              </a:rPr>
              <a:t>— P1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92040" y="4069080"/>
            <a:ext cx="3840480" cy="841248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92040" y="4069080"/>
            <a:ext cx="54864" cy="841248"/>
          </a:xfrm>
          <a:prstGeom prst="rect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47488" y="414223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166"/>
                </a:solidFill>
              </a:rPr>
              <a:t>"Session 1 felt less trivial. We developed the algorithm step by step it felt like."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47488" y="4709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8"/>
                </a:solidFill>
              </a:rPr>
              <a:t>— P8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0" cy="310896"/>
          </a:xfrm>
          <a:prstGeom prst="roundRect">
            <a:avLst>
              <a:gd name="adj" fmla="val 14706"/>
            </a:avLst>
          </a:prstGeom>
          <a:solidFill>
            <a:srgbClr val="1B6B7B">
              <a:alpha val="15000"/>
            </a:srgbClr>
          </a:solidFill>
          <a:ln w="12700">
            <a:solidFill>
              <a:srgbClr val="1B6B7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B6B7B"/>
                </a:solidFill>
              </a:rPr>
              <a:t>04  |  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658368"/>
          </a:xfrm>
          <a:prstGeom prst="rect">
            <a:avLst/>
          </a:prstGeom>
          <a:solidFill>
            <a:srgbClr val="EEF7FA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64008" cy="658368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3560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</a:rPr>
              <a:t>This pilot study found that identity-based AI tutoring produces measurable improvements in engagement (+0.37), trust (+0.25), and enjoyment (+0.25) over a standard AI tutor. Motivation was tied at 4.0 — but this conceals important individual variation driven by topic difficulty, session order, and learner background.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2633472" cy="402336"/>
          </a:xfrm>
          <a:prstGeom prst="rect">
            <a:avLst/>
          </a:prstGeom>
          <a:solidFill>
            <a:srgbClr val="2A8FA1">
              <a:alpha val="12000"/>
            </a:srgbClr>
          </a:solidFill>
          <a:ln w="12700">
            <a:solidFill>
              <a:srgbClr val="2A8FA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45720" cy="402336"/>
          </a:xfrm>
          <a:prstGeom prst="rect">
            <a:avLst/>
          </a:prstGeom>
          <a:solidFill>
            <a:srgbClr val="2A8FA1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7627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217627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8FA1"/>
                </a:solidFill>
              </a:rPr>
              <a:t>What worked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551176"/>
            <a:ext cx="2633472" cy="2340864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2551176"/>
            <a:ext cx="45720" cy="2340864"/>
          </a:xfrm>
          <a:prstGeom prst="rect">
            <a:avLst/>
          </a:prstGeom>
          <a:solidFill>
            <a:srgbClr val="2A8FA1">
              <a:alpha val="50000"/>
            </a:srgbClr>
          </a:solidFill>
          <a:ln w="12700">
            <a:solidFill>
              <a:srgbClr val="2A8FA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6928" y="2697480"/>
            <a:ext cx="91440" cy="91440"/>
          </a:xfrm>
          <a:prstGeom prst="ellipse">
            <a:avLst/>
          </a:prstGeom>
          <a:solidFill>
            <a:srgbClr val="2A8FA1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263347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Future-self framing drove the strongest gains in engagement — participants sent 20% more messages on average (42 vs 35).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" y="3246120"/>
            <a:ext cx="91440" cy="91440"/>
          </a:xfrm>
          <a:prstGeom prst="ellipse">
            <a:avLst/>
          </a:prstGeom>
          <a:solidFill>
            <a:srgbClr val="2A8FA1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318211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50% of participants explicitly preferred the Future-Self tutor after controlling for session order.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66928" y="3794760"/>
            <a:ext cx="91440" cy="91440"/>
          </a:xfrm>
          <a:prstGeom prst="ellipse">
            <a:avLst/>
          </a:prstGeom>
          <a:solidFill>
            <a:srgbClr val="2A8FA1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" y="373075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Trust in the Future-Self tutor was consistently higher (+0.25), suggesting identity framing builds a stronger student–tutor relationship.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73552" y="2148840"/>
            <a:ext cx="2633472" cy="402336"/>
          </a:xfrm>
          <a:prstGeom prst="rect">
            <a:avLst/>
          </a:prstGeom>
          <a:solidFill>
            <a:srgbClr val="E8935A">
              <a:alpha val="12000"/>
            </a:srgbClr>
          </a:solidFill>
          <a:ln w="12700">
            <a:solidFill>
              <a:srgbClr val="E893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273552" y="2148840"/>
            <a:ext cx="45720" cy="402336"/>
          </a:xfrm>
          <a:prstGeom prst="rect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176272"/>
            <a:ext cx="329184" cy="32918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776472" y="217627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35A"/>
                </a:solidFill>
              </a:rPr>
              <a:t>What was nuanced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273552" y="2551176"/>
            <a:ext cx="2633472" cy="2340864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3273552" y="2551176"/>
            <a:ext cx="45720" cy="2340864"/>
          </a:xfrm>
          <a:prstGeom prst="rect">
            <a:avLst/>
          </a:prstGeom>
          <a:solidFill>
            <a:srgbClr val="E8935A">
              <a:alpha val="50000"/>
            </a:srgbClr>
          </a:solidFill>
          <a:ln w="12700">
            <a:solidFill>
              <a:srgbClr val="E8935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3383280" y="2697480"/>
            <a:ext cx="91440" cy="91440"/>
          </a:xfrm>
          <a:prstGeom prst="ellipse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3547872" y="263347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Motivation was tied at 4.0 — partly because intrinsic interest in the problem itself (not tutor style) was the dominant driver for several participants.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383280" y="3246120"/>
            <a:ext cx="91440" cy="91440"/>
          </a:xfrm>
          <a:prstGeom prst="ellipse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3547872" y="318211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Clarity scored slightly lower for Future-Self (3.75 vs 4.00) — the persona may occasionally prioritise warmth over precision.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383280" y="3794760"/>
            <a:ext cx="91440" cy="91440"/>
          </a:xfrm>
          <a:prstGeom prst="ellipse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3547872" y="373075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P3 and P4 scored both tutors identically, suggesting topic difficulty and session order can overshadow tutoring style entirely.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089904" y="2148840"/>
            <a:ext cx="2633472" cy="402336"/>
          </a:xfrm>
          <a:prstGeom prst="rect">
            <a:avLst/>
          </a:prstGeom>
          <a:solidFill>
            <a:srgbClr val="3D5166">
              <a:alpha val="12000"/>
            </a:srgbClr>
          </a:solidFill>
          <a:ln w="12700">
            <a:solidFill>
              <a:srgbClr val="3D516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089904" y="2148840"/>
            <a:ext cx="45720" cy="402336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2176272"/>
            <a:ext cx="329184" cy="32918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592824" y="217627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166"/>
                </a:solidFill>
              </a:rPr>
              <a:t>What this means for HCI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089904" y="2551176"/>
            <a:ext cx="2633472" cy="2340864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6089904" y="2551176"/>
            <a:ext cx="45720" cy="2340864"/>
          </a:xfrm>
          <a:prstGeom prst="rect">
            <a:avLst/>
          </a:prstGeom>
          <a:solidFill>
            <a:srgbClr val="3D5166">
              <a:alpha val="50000"/>
            </a:srgbClr>
          </a:solidFill>
          <a:ln w="12700">
            <a:solidFill>
              <a:srgbClr val="3D516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6199632" y="2697480"/>
            <a:ext cx="91440" cy="91440"/>
          </a:xfrm>
          <a:prstGeom prst="ellipse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6364224" y="263347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4A5568"/>
                </a:solidFill>
              </a:rPr>
              <a:t>Larger studies with controlled topic difficulty and more diverse populations are needed to isolate the identity framing effect.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199632" y="3246120"/>
            <a:ext cx="91440" cy="91440"/>
          </a:xfrm>
          <a:prstGeom prst="ellipse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6364224" y="318211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The effect is strongest for learners who lack domain confidence. Proximo is most valuable as an onboarding tool.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199632" y="3794760"/>
            <a:ext cx="91440" cy="91440"/>
          </a:xfrm>
          <a:prstGeom prst="ellipse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6364224" y="373075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Future-self framing may need adaptive calibration: beginners benefit from emotional warmth, advanced learners may prefer directness.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0" cy="310896"/>
          </a:xfrm>
          <a:prstGeom prst="roundRect">
            <a:avLst>
              <a:gd name="adj" fmla="val 14706"/>
            </a:avLst>
          </a:prstGeom>
          <a:solidFill>
            <a:srgbClr val="1B6B7B">
              <a:alpha val="15000"/>
            </a:srgbClr>
          </a:solidFill>
          <a:ln w="12700">
            <a:solidFill>
              <a:srgbClr val="1B6B7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B6B7B"/>
                </a:solidFill>
              </a:rPr>
              <a:t>05  |  Future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5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3931920" cy="676656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54864" cy="676656"/>
          </a:xfrm>
          <a:prstGeom prst="rect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166"/>
                </a:solidFill>
              </a:rPr>
              <a:t>Small sample (n=8)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30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Results are exploratory, not generalisable. Statistical significance cannot be claimed — this is a pilot study.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3931920" cy="676656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54864" cy="676656"/>
          </a:xfrm>
          <a:prstGeom prst="rect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166"/>
                </a:solidFill>
              </a:rPr>
              <a:t>Topic confound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The two tasks (Dynamic Programming vs Bayes Theorem) differ in difficulty. Task differences may have driven some motivation effects more than tutor style.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18688"/>
            <a:ext cx="3931920" cy="676656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54864" cy="676656"/>
          </a:xfrm>
          <a:prstGeom prst="rect">
            <a:avLst/>
          </a:prstGeom>
          <a:solidFill>
            <a:srgbClr val="E8935A"/>
          </a:solidFill>
          <a:ln w="12700">
            <a:solidFill>
              <a:srgbClr val="E89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2826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166"/>
                </a:solidFill>
              </a:rPr>
              <a:t>Order effects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5387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Despite counterbalancing, some participants may have been fatigued or primed by their first session, affecting how they experienced the second.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1810512"/>
            <a:ext cx="3931920" cy="676656"/>
          </a:xfrm>
          <a:prstGeom prst="rect">
            <a:avLst/>
          </a:prstGeom>
          <a:solidFill>
            <a:srgbClr val="EEF7FA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1810512"/>
            <a:ext cx="54864" cy="676656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1874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7B"/>
                </a:solidFill>
              </a:rPr>
              <a:t>Scale the study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130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Run a fully-powered study (n=30+) with matched task difficulty across conditions to isolate the identity framing effect.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514600"/>
            <a:ext cx="3931920" cy="676656"/>
          </a:xfrm>
          <a:prstGeom prst="rect">
            <a:avLst/>
          </a:prstGeom>
          <a:solidFill>
            <a:srgbClr val="EEF7FA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514600"/>
            <a:ext cx="54864" cy="676656"/>
          </a:xfrm>
          <a:prstGeom prst="rect">
            <a:avLst/>
          </a:prstGeom>
          <a:solidFill>
            <a:srgbClr val="1B6B7B"/>
          </a:solidFill>
          <a:ln w="12700">
            <a:solidFill>
              <a:srgbClr val="1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25786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7B"/>
                </a:solidFill>
              </a:rPr>
              <a:t>Adaptive persona depth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2834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Let the system calibrate how strongly the future-self persona is expressed based on the learner's confidence level and topic familiarity.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218688"/>
            <a:ext cx="3931920" cy="676656"/>
          </a:xfrm>
          <a:prstGeom prst="rect">
            <a:avLst/>
          </a:prstGeom>
          <a:solidFill>
            <a:srgbClr val="EEF7FA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54880" y="3218688"/>
            <a:ext cx="54864" cy="676656"/>
          </a:xfrm>
          <a:prstGeom prst="rect">
            <a:avLst/>
          </a:prstGeom>
          <a:solidFill>
            <a:srgbClr val="2A8FA1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37760" y="32826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7B"/>
                </a:solidFill>
              </a:rPr>
              <a:t>Longitudinal measurement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5387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Track motivation and persistence over multiple sessions — one interaction is too short to observe identity formation effects.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922776"/>
            <a:ext cx="3931920" cy="676656"/>
          </a:xfrm>
          <a:prstGeom prst="rect">
            <a:avLst/>
          </a:prstGeom>
          <a:solidFill>
            <a:srgbClr val="EEF7FA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3922776"/>
            <a:ext cx="54864" cy="676656"/>
          </a:xfrm>
          <a:prstGeom prst="rect">
            <a:avLst/>
          </a:prstGeom>
          <a:solidFill>
            <a:srgbClr val="2A8FA1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3986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7B"/>
                </a:solidFill>
              </a:rPr>
              <a:t>Broader subject coverage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42428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Test identity-based tutoring in writing, language learning, and other domains where emotional barriers to learning are well-documented.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EEF7FA"/>
          </a:solidFill>
          <a:ln w="12700">
            <a:solidFill>
              <a:srgbClr val="2A8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6B7B"/>
                </a:solidFill>
              </a:rPr>
              <a:t>github.com/yusheng036/proximo  ·  Proximo: Identity-Based AI Tutors for Learning Motivation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1230</Words>
  <Application>Microsoft Macintosh PowerPoint</Application>
  <PresentationFormat>On-screen Show (16:9)</PresentationFormat>
  <Paragraphs>143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Aow, Yu Sheng</cp:lastModifiedBy>
  <cp:revision>10</cp:revision>
  <dcterms:created xsi:type="dcterms:W3CDTF">2026-04-21T03:08:40Z</dcterms:created>
  <dcterms:modified xsi:type="dcterms:W3CDTF">2026-04-29T21:25:24Z</dcterms:modified>
</cp:coreProperties>
</file>